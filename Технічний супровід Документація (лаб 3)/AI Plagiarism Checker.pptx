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48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uk-UA" smtClean="0"/>
              <a:t>Клацніть, щоб редагувати стиль зразка підзаголовка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295553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і об’є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 smtClean="0"/>
              <a:t>Редагувати стиль зразка тексту</a:t>
            </a:r>
          </a:p>
          <a:p>
            <a:pPr lvl="1"/>
            <a:r>
              <a:rPr lang="uk-UA" smtClean="0"/>
              <a:t>Другий рівень</a:t>
            </a:r>
          </a:p>
          <a:p>
            <a:pPr lvl="2"/>
            <a:r>
              <a:rPr lang="uk-UA" smtClean="0"/>
              <a:t>Третій рівень</a:t>
            </a:r>
          </a:p>
          <a:p>
            <a:pPr lvl="3"/>
            <a:r>
              <a:rPr lang="uk-UA" smtClean="0"/>
              <a:t>Четвертий рівень</a:t>
            </a:r>
          </a:p>
          <a:p>
            <a:pPr lvl="4"/>
            <a:r>
              <a:rPr lang="uk-UA" smtClean="0"/>
              <a:t>П’ятий рівень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94494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879327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  <a:p>
            <a:pPr lvl="1"/>
            <a:r>
              <a:rPr lang="uk-UA" smtClean="0"/>
              <a:t>Другий рівень</a:t>
            </a:r>
          </a:p>
          <a:p>
            <a:pPr lvl="2"/>
            <a:r>
              <a:rPr lang="uk-UA" smtClean="0"/>
              <a:t>Третій рівень</a:t>
            </a:r>
          </a:p>
          <a:p>
            <a:pPr lvl="3"/>
            <a:r>
              <a:rPr lang="uk-UA" smtClean="0"/>
              <a:t>Четвертий рівень</a:t>
            </a:r>
          </a:p>
          <a:p>
            <a:pPr lvl="4"/>
            <a:r>
              <a:rPr lang="uk-UA" smtClean="0"/>
              <a:t>П’ятий рівень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  <a:p>
            <a:pPr lvl="1"/>
            <a:r>
              <a:rPr lang="uk-UA" smtClean="0"/>
              <a:t>Другий рівень</a:t>
            </a:r>
          </a:p>
          <a:p>
            <a:pPr lvl="2"/>
            <a:r>
              <a:rPr lang="uk-UA" smtClean="0"/>
              <a:t>Третій рівень</a:t>
            </a:r>
          </a:p>
          <a:p>
            <a:pPr lvl="3"/>
            <a:r>
              <a:rPr lang="uk-UA" smtClean="0"/>
              <a:t>Четвертий рівень</a:t>
            </a:r>
          </a:p>
          <a:p>
            <a:pPr lvl="4"/>
            <a:r>
              <a:rPr lang="uk-UA" smtClean="0"/>
              <a:t>П’ятий рівень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870936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  <a:p>
            <a:pPr lvl="1"/>
            <a:r>
              <a:rPr lang="uk-UA" smtClean="0"/>
              <a:t>Другий рівень</a:t>
            </a:r>
          </a:p>
          <a:p>
            <a:pPr lvl="2"/>
            <a:r>
              <a:rPr lang="uk-UA" smtClean="0"/>
              <a:t>Третій рівень</a:t>
            </a:r>
          </a:p>
          <a:p>
            <a:pPr lvl="3"/>
            <a:r>
              <a:rPr lang="uk-UA" smtClean="0"/>
              <a:t>Четвертий рівень</a:t>
            </a:r>
          </a:p>
          <a:p>
            <a:pPr lvl="4"/>
            <a:r>
              <a:rPr lang="uk-UA" smtClean="0"/>
              <a:t>П’ятий рівень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  <a:p>
            <a:pPr lvl="1"/>
            <a:r>
              <a:rPr lang="uk-UA" smtClean="0"/>
              <a:t>Другий рівень</a:t>
            </a:r>
          </a:p>
          <a:p>
            <a:pPr lvl="2"/>
            <a:r>
              <a:rPr lang="uk-UA" smtClean="0"/>
              <a:t>Третій рівень</a:t>
            </a:r>
          </a:p>
          <a:p>
            <a:pPr lvl="3"/>
            <a:r>
              <a:rPr lang="uk-UA" smtClean="0"/>
              <a:t>Четвертий рівень</a:t>
            </a:r>
          </a:p>
          <a:p>
            <a:pPr lvl="4"/>
            <a:r>
              <a:rPr lang="uk-UA" smtClean="0"/>
              <a:t>П’ятий рівень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7944867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58121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380958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  <a:p>
            <a:pPr lvl="1"/>
            <a:r>
              <a:rPr lang="uk-UA" smtClean="0"/>
              <a:t>Другий рівень</a:t>
            </a:r>
          </a:p>
          <a:p>
            <a:pPr lvl="2"/>
            <a:r>
              <a:rPr lang="uk-UA" smtClean="0"/>
              <a:t>Третій рівень</a:t>
            </a:r>
          </a:p>
          <a:p>
            <a:pPr lvl="3"/>
            <a:r>
              <a:rPr lang="uk-UA" smtClean="0"/>
              <a:t>Четвертий рівень</a:t>
            </a:r>
          </a:p>
          <a:p>
            <a:pPr lvl="4"/>
            <a:r>
              <a:rPr lang="uk-UA" smtClean="0"/>
              <a:t>П’ятий рівень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15808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Зображення 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uk-UA" smtClean="0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242457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 фотографія 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uk-UA" smtClean="0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66884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Назва та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513304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з підпис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uk-UA" smtClean="0"/>
              <a:t>Редагувати стиль зразка тексту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2059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ка назв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813874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1698128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колонки з малю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uk-UA" smtClean="0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uk-UA" smtClean="0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uk-UA" smtClean="0"/>
              <a:t>Клацніть піктограму, щоб додати зображення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uk-UA" smtClean="0"/>
              <a:t>Редагувати стиль зразка тексту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380047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uk-UA" smtClean="0"/>
              <a:t>Редагувати стиль зразка тексту</a:t>
            </a:r>
          </a:p>
          <a:p>
            <a:pPr lvl="1"/>
            <a:r>
              <a:rPr lang="uk-UA" smtClean="0"/>
              <a:t>Другий рівень</a:t>
            </a:r>
          </a:p>
          <a:p>
            <a:pPr lvl="2"/>
            <a:r>
              <a:rPr lang="uk-UA" smtClean="0"/>
              <a:t>Третій рівень</a:t>
            </a:r>
          </a:p>
          <a:p>
            <a:pPr lvl="3"/>
            <a:r>
              <a:rPr lang="uk-UA" smtClean="0"/>
              <a:t>Четвертий рівень</a:t>
            </a:r>
          </a:p>
          <a:p>
            <a:pPr lvl="4"/>
            <a:r>
              <a:rPr lang="uk-UA" smtClean="0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2099891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uk-UA" smtClean="0"/>
              <a:t>Редагувати стиль зразка тексту</a:t>
            </a:r>
          </a:p>
          <a:p>
            <a:pPr lvl="1"/>
            <a:r>
              <a:rPr lang="uk-UA" smtClean="0"/>
              <a:t>Другий рівень</a:t>
            </a:r>
          </a:p>
          <a:p>
            <a:pPr lvl="2"/>
            <a:r>
              <a:rPr lang="uk-UA" smtClean="0"/>
              <a:t>Третій рівень</a:t>
            </a:r>
          </a:p>
          <a:p>
            <a:pPr lvl="3"/>
            <a:r>
              <a:rPr lang="uk-UA" smtClean="0"/>
              <a:t>Четвертий рівень</a:t>
            </a:r>
          </a:p>
          <a:p>
            <a:pPr lvl="4"/>
            <a:r>
              <a:rPr lang="uk-UA" smtClean="0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805497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uk-UA" smtClean="0"/>
              <a:t>Зразок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 smtClean="0"/>
              <a:t>Редагувати стиль зразка тексту</a:t>
            </a:r>
          </a:p>
          <a:p>
            <a:pPr lvl="1"/>
            <a:r>
              <a:rPr lang="uk-UA" smtClean="0"/>
              <a:t>Другий рівень</a:t>
            </a:r>
          </a:p>
          <a:p>
            <a:pPr lvl="2"/>
            <a:r>
              <a:rPr lang="uk-UA" smtClean="0"/>
              <a:t>Третій рівень</a:t>
            </a:r>
          </a:p>
          <a:p>
            <a:pPr lvl="3"/>
            <a:r>
              <a:rPr lang="uk-UA" smtClean="0"/>
              <a:t>Четвертий рівень</a:t>
            </a:r>
          </a:p>
          <a:p>
            <a:pPr lvl="4"/>
            <a:r>
              <a:rPr lang="uk-UA" smtClean="0"/>
              <a:t>П’ятий рівень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F0F24280-14B7-4CC6-B83C-DB1A84A5BC74}" type="datetimeFigureOut">
              <a:rPr lang="uk-UA" smtClean="0"/>
              <a:t>29.04.2026</a:t>
            </a:fld>
            <a:endParaRPr lang="uk-U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5204C4-5EB3-4851-B246-4734AB9135C9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354850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340307" y="74705"/>
            <a:ext cx="8825658" cy="3329581"/>
          </a:xfrm>
        </p:spPr>
        <p:txBody>
          <a:bodyPr/>
          <a:lstStyle/>
          <a:p>
            <a:r>
              <a:rPr lang="en-US" dirty="0" smtClean="0"/>
              <a:t>AI Plagiarism Checker</a:t>
            </a:r>
            <a:endParaRPr lang="uk-UA" dirty="0"/>
          </a:p>
        </p:txBody>
      </p:sp>
      <p:sp>
        <p:nvSpPr>
          <p:cNvPr id="3" name="Підзаголовок 2"/>
          <p:cNvSpPr>
            <a:spLocks noGrp="1"/>
          </p:cNvSpPr>
          <p:nvPr>
            <p:ph type="subTitle" idx="1"/>
          </p:nvPr>
        </p:nvSpPr>
        <p:spPr>
          <a:xfrm>
            <a:off x="1437503" y="3404286"/>
            <a:ext cx="9144000" cy="3453714"/>
          </a:xfrm>
        </p:spPr>
        <p:txBody>
          <a:bodyPr>
            <a:normAutofit/>
          </a:bodyPr>
          <a:lstStyle/>
          <a:p>
            <a:r>
              <a:rPr lang="ru-RU" dirty="0" err="1" smtClean="0"/>
              <a:t>Інтелектуальна</a:t>
            </a:r>
            <a:r>
              <a:rPr lang="ru-RU" dirty="0" smtClean="0"/>
              <a:t> система </a:t>
            </a:r>
            <a:r>
              <a:rPr lang="ru-RU" dirty="0" err="1" smtClean="0"/>
              <a:t>аналізу</a:t>
            </a:r>
            <a:r>
              <a:rPr lang="ru-RU" dirty="0" smtClean="0"/>
              <a:t> та </a:t>
            </a:r>
            <a:r>
              <a:rPr lang="ru-RU" dirty="0" err="1" smtClean="0"/>
              <a:t>захисту</a:t>
            </a:r>
            <a:r>
              <a:rPr lang="ru-RU" dirty="0" smtClean="0"/>
              <a:t> </a:t>
            </a:r>
            <a:r>
              <a:rPr lang="ru-RU" dirty="0" err="1" smtClean="0"/>
              <a:t>академічної</a:t>
            </a:r>
            <a:r>
              <a:rPr lang="ru-RU" dirty="0" smtClean="0"/>
              <a:t> </a:t>
            </a:r>
            <a:r>
              <a:rPr lang="ru-RU" dirty="0" err="1" smtClean="0"/>
              <a:t>доброчесності</a:t>
            </a:r>
            <a:endParaRPr lang="ru-RU" dirty="0" smtClean="0"/>
          </a:p>
          <a:p>
            <a:endParaRPr lang="ru-RU" dirty="0"/>
          </a:p>
          <a:p>
            <a:endParaRPr lang="ru-RU" dirty="0" smtClean="0"/>
          </a:p>
          <a:p>
            <a:r>
              <a:rPr lang="ru-RU" dirty="0" err="1" smtClean="0"/>
              <a:t>Виконав</a:t>
            </a:r>
            <a:r>
              <a:rPr lang="ru-RU" dirty="0" smtClean="0"/>
              <a:t> студент </a:t>
            </a:r>
            <a:r>
              <a:rPr lang="ru-RU" dirty="0" err="1" smtClean="0"/>
              <a:t>спеціальності</a:t>
            </a:r>
            <a:r>
              <a:rPr lang="ru-RU" dirty="0" smtClean="0"/>
              <a:t> 121</a:t>
            </a:r>
          </a:p>
          <a:p>
            <a:r>
              <a:rPr lang="ru-RU" dirty="0" smtClean="0"/>
              <a:t> </a:t>
            </a:r>
            <a:r>
              <a:rPr lang="ru-RU" dirty="0" err="1" smtClean="0"/>
              <a:t>Інженерія</a:t>
            </a:r>
            <a:r>
              <a:rPr lang="ru-RU" dirty="0" smtClean="0"/>
              <a:t> </a:t>
            </a:r>
            <a:r>
              <a:rPr lang="ru-RU" dirty="0" err="1" smtClean="0"/>
              <a:t>програмного</a:t>
            </a:r>
            <a:r>
              <a:rPr lang="ru-RU" dirty="0" smtClean="0"/>
              <a:t> </a:t>
            </a:r>
            <a:r>
              <a:rPr lang="ru-RU" dirty="0" err="1" smtClean="0"/>
              <a:t>забезпечення</a:t>
            </a:r>
            <a:r>
              <a:rPr lang="ru-RU" dirty="0" smtClean="0"/>
              <a:t>,</a:t>
            </a:r>
          </a:p>
          <a:p>
            <a:r>
              <a:rPr lang="ru-RU" dirty="0" smtClean="0"/>
              <a:t> Баш Роман </a:t>
            </a:r>
            <a:r>
              <a:rPr lang="ru-RU" dirty="0" err="1" smtClean="0"/>
              <a:t>Олександрович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962189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 smtClean="0"/>
              <a:t>Проблема та потреби користувача</a:t>
            </a:r>
            <a:br>
              <a:rPr lang="uk-UA" dirty="0" smtClean="0"/>
            </a:br>
            <a:r>
              <a:rPr lang="uk-UA" dirty="0" smtClean="0"/>
              <a:t>Виклики сучасної освіти</a:t>
            </a:r>
            <a:endParaRPr lang="uk-UA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268828" y="2450346"/>
            <a:ext cx="11654344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Стрімке зростання обсягів цифрового контенту та академічних робіт.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Неможливість ефективної ручної перевірки великих масивів тексту.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Низька ефективність стандартних фільтрів (пошук лише прямих збігів).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Ризики репутаційних втрат для навчальних закладів через пропущений плагіат.</a:t>
            </a:r>
          </a:p>
        </p:txBody>
      </p:sp>
    </p:spTree>
    <p:extLst>
      <p:ext uri="{BB962C8B-B14F-4D97-AF65-F5344CB8AC3E}">
        <p14:creationId xmlns:p14="http://schemas.microsoft.com/office/powerpoint/2010/main" val="2453259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 smtClean="0"/>
              <a:t>Програмне вирішення (</a:t>
            </a:r>
            <a:r>
              <a:rPr lang="en-US" dirty="0" smtClean="0"/>
              <a:t>AI-Core)</a:t>
            </a:r>
            <a:endParaRPr lang="uk-UA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415809" y="1690688"/>
            <a:ext cx="11146962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Автоматизація процесу порівняння текстів на базі локального веб-сервера (Node.js).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Використання математичної моделі </a:t>
            </a:r>
            <a:r>
              <a:rPr kumimoji="0" lang="uk-UA" altLang="uk-UA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TF-IDF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kumimoji="0" lang="uk-UA" altLang="uk-UA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Term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uk-UA" altLang="uk-UA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Frequency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kumimoji="0" lang="uk-UA" altLang="uk-UA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Inverse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uk-UA" altLang="uk-UA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Document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uk-UA" altLang="uk-UA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Frequency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Розрахунок </a:t>
            </a:r>
            <a:r>
              <a:rPr kumimoji="0" lang="uk-UA" altLang="uk-UA" sz="2000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косинусної</a:t>
            </a:r>
            <a:r>
              <a:rPr kumimoji="0" lang="uk-UA" altLang="uk-UA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міри подібності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для порівняння векторних представлень текстів.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Фільтрація "шуму" (стоп-слів) для фокусування на змістовному ядрі документа.</a:t>
            </a:r>
          </a:p>
        </p:txBody>
      </p:sp>
    </p:spTree>
    <p:extLst>
      <p:ext uri="{BB962C8B-B14F-4D97-AF65-F5344CB8AC3E}">
        <p14:creationId xmlns:p14="http://schemas.microsoft.com/office/powerpoint/2010/main" val="16102932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Чому</a:t>
            </a:r>
            <a:r>
              <a:rPr lang="ru-RU" dirty="0" smtClean="0"/>
              <a:t> </a:t>
            </a:r>
            <a:r>
              <a:rPr lang="ru-RU" dirty="0" err="1" smtClean="0"/>
              <a:t>варто</a:t>
            </a:r>
            <a:r>
              <a:rPr lang="ru-RU" dirty="0" smtClean="0"/>
              <a:t> обрати </a:t>
            </a:r>
            <a:r>
              <a:rPr lang="ru-RU" dirty="0" err="1" smtClean="0"/>
              <a:t>цю</a:t>
            </a:r>
            <a:r>
              <a:rPr lang="ru-RU" dirty="0" smtClean="0"/>
              <a:t> систему?</a:t>
            </a:r>
            <a:endParaRPr lang="uk-UA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663245" y="1690688"/>
            <a:ext cx="10690555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Швидкість: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Миттєва обробка файлів без черг (на відміну від хмарних аналогів).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Конфіденційність: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Локальне зберігання. Дані не передаються на сторонні сервери.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Гнучкість: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Налаштування шляхів та бази через конфігураційний файл </a:t>
            </a:r>
            <a:r>
              <a:rPr kumimoji="0" lang="uk-UA" altLang="uk-UA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config.json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Прозорість: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Автоматичне ведення системного журналу (app.log) та генерація звітів (report.txt).</a:t>
            </a:r>
          </a:p>
        </p:txBody>
      </p:sp>
    </p:spTree>
    <p:extLst>
      <p:ext uri="{BB962C8B-B14F-4D97-AF65-F5344CB8AC3E}">
        <p14:creationId xmlns:p14="http://schemas.microsoft.com/office/powerpoint/2010/main" val="4200141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 smtClean="0"/>
              <a:t>Економічна та технічна ефективність</a:t>
            </a:r>
            <a:endParaRPr lang="uk-UA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25843" y="1853248"/>
            <a:ext cx="11221994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Вартість впровадження: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0 грн (розроблено на базі відкритого ПЗ).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Апаратні ресурси: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Мінімальні. Процесор від 1 </a:t>
            </a:r>
            <a:r>
              <a:rPr kumimoji="0" lang="uk-UA" altLang="uk-UA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ГГц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від 512 МБ ОЗП.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Підготовка кадрів: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Не потрібна. Інтуїтивно зрозумілий веб-інтерфейс</a:t>
            </a:r>
            <a:endParaRPr kumimoji="0" lang="en-US" altLang="uk-UA" sz="2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(завантажив -&gt; отримав результат).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uk-UA" altLang="uk-UA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Оновлення: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Відбувається шляхом завантаження нової версії з </a:t>
            </a:r>
            <a:r>
              <a:rPr kumimoji="0" lang="uk-UA" altLang="uk-UA" sz="2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Git-репозиторію</a:t>
            </a:r>
            <a:r>
              <a:rPr kumimoji="0" lang="uk-UA" altLang="uk-UA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44241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 dirty="0" smtClean="0"/>
              <a:t>Дякую за увагу!</a:t>
            </a:r>
            <a:endParaRPr lang="uk-UA" dirty="0"/>
          </a:p>
        </p:txBody>
      </p:sp>
      <p:sp>
        <p:nvSpPr>
          <p:cNvPr id="3" name="Місце для вмісту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Система готова до </a:t>
            </a:r>
            <a:r>
              <a:rPr lang="ru-RU" dirty="0" err="1" smtClean="0"/>
              <a:t>інтеграції</a:t>
            </a:r>
            <a:r>
              <a:rPr lang="ru-RU" dirty="0" smtClean="0"/>
              <a:t> в </a:t>
            </a:r>
            <a:r>
              <a:rPr lang="ru-RU" dirty="0" err="1" smtClean="0"/>
              <a:t>освітній</a:t>
            </a:r>
            <a:r>
              <a:rPr lang="ru-RU" dirty="0" smtClean="0"/>
              <a:t> </a:t>
            </a:r>
            <a:r>
              <a:rPr lang="ru-RU" dirty="0" err="1" smtClean="0"/>
              <a:t>процес</a:t>
            </a:r>
            <a:r>
              <a:rPr lang="ru-RU" dirty="0" smtClean="0"/>
              <a:t>.</a:t>
            </a:r>
          </a:p>
          <a:p>
            <a:r>
              <a:rPr lang="ru-RU" i="1" dirty="0" err="1" smtClean="0"/>
              <a:t>Контакти</a:t>
            </a:r>
            <a:r>
              <a:rPr lang="ru-RU" i="1" dirty="0" smtClean="0"/>
              <a:t>:</a:t>
            </a:r>
            <a:r>
              <a:rPr lang="ru-RU" dirty="0" smtClean="0"/>
              <a:t> </a:t>
            </a:r>
            <a:r>
              <a:rPr lang="ru-RU" dirty="0" err="1" smtClean="0"/>
              <a:t>Посилання</a:t>
            </a:r>
            <a:r>
              <a:rPr lang="ru-RU" dirty="0" smtClean="0"/>
              <a:t> на </a:t>
            </a:r>
            <a:r>
              <a:rPr lang="ru-RU" dirty="0" err="1" smtClean="0"/>
              <a:t>GitHub-репозиторій</a:t>
            </a:r>
            <a:r>
              <a:rPr lang="en-US" dirty="0"/>
              <a:t> https://github.com/Roman05044/module_2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4622755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Іон">
  <a:themeElements>
    <a:clrScheme name="І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І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І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9</TotalTime>
  <Words>251</Words>
  <Application>Microsoft Office PowerPoint</Application>
  <PresentationFormat>Широкий екран</PresentationFormat>
  <Paragraphs>31</Paragraphs>
  <Slides>6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6</vt:i4>
      </vt:variant>
    </vt:vector>
  </HeadingPairs>
  <TitlesOfParts>
    <vt:vector size="11" baseType="lpstr">
      <vt:lpstr>Arial</vt:lpstr>
      <vt:lpstr>Century Gothic</vt:lpstr>
      <vt:lpstr>Times New Roman</vt:lpstr>
      <vt:lpstr>Wingdings 3</vt:lpstr>
      <vt:lpstr>Іон</vt:lpstr>
      <vt:lpstr>AI Plagiarism Checker</vt:lpstr>
      <vt:lpstr>Проблема та потреби користувача Виклики сучасної освіти</vt:lpstr>
      <vt:lpstr>Програмне вирішення (AI-Core)</vt:lpstr>
      <vt:lpstr>Чому варто обрати цю систему?</vt:lpstr>
      <vt:lpstr>Економічна та технічна ефективність</vt:lpstr>
      <vt:lpstr>Дякую за увагу!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Plagiarism Checker</dc:title>
  <dc:creator>tradermack1000625@gmail.com</dc:creator>
  <cp:lastModifiedBy>tradermack1000625@gmail.com</cp:lastModifiedBy>
  <cp:revision>3</cp:revision>
  <dcterms:created xsi:type="dcterms:W3CDTF">2026-04-29T05:26:25Z</dcterms:created>
  <dcterms:modified xsi:type="dcterms:W3CDTF">2026-04-29T05:47:37Z</dcterms:modified>
</cp:coreProperties>
</file>